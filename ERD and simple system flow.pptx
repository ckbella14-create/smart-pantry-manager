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6F20-ED7D-0602-B72C-700429FB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E35AE-7CF0-4293-C9F6-8B8F83648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2485E-5EAA-5A27-4B0C-424819A6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B8D3-98EF-985D-7D3F-95C69231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E7F84-D9EA-752A-1311-2A73F0DD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28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9415-E8D8-F28C-0FC7-D4E94DDC6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8B9F-5BCE-95B3-6D24-D5B55A3B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1452-6C34-3A3D-64AC-4BF06FE74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14F76-C5AB-965D-A5A3-6C59A162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EAE12-EEB4-735A-DDCA-FCD8AB31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213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309E-3B68-A106-4FF3-4EB72C2D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3D3F7-4A83-4D52-39B5-8D11977AE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D2DD-1911-0406-4EB6-87A24FDD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FB5B5-0E49-0FF0-5C0C-97630ECB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3CA3-D7B1-B9A4-CC72-FED75F829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326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AD75-5F92-7F31-674B-0B9B2D47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3329A-FD10-2C38-D87F-F53C86389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998D-6721-646F-0A3F-806A351CE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1CC5E-C594-8A73-A1AF-8FAC1A760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763FC-2FD6-2915-B06C-F26FE3FD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E9837-420F-EABD-90F3-E4469B27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6747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DB12-B5BF-53D9-045A-AEC84A749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04C60-5017-0C2D-0308-29EE0A937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92C9F-FCE3-288C-6B3E-88A354E04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D418BA-0CFC-FD2F-006E-3C37785A2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389E10-BF1E-C4EC-57C1-AF4319CE2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38876-1828-BB44-24BA-5B6FD7439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E0F2E-3179-1BA5-2C41-A2CA31F2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65C61-94E1-AF79-FC1F-4611F9F4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863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6002-3B79-946A-9384-FFFD4CC2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C547C-8D63-6C85-5EC2-0CA3E4D42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00DE2-A9CB-3EEE-1AC3-F924F612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BDA11-B20F-9E86-F314-96600AB8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168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2F9D3-8A37-893A-FA33-50ACCF6D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2E821-F72B-2E93-7134-0C7CC34C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E7C20-F2C0-02FF-54F2-D08D7C8B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924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641B3-8C09-594E-3EDD-6E056D01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B415F-9736-22ED-3372-73B299BE4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78AE6-7AD7-0B63-3E95-C45659699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22CE5-59DC-4C8A-F3DB-0E3CD897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FAFFE-BF51-61C3-FB39-772CE457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7F592-C2F3-FFC2-D1FF-03A7CE64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767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0931-C106-EA51-8701-4B785B01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FC391-E9D2-B755-0E3C-E433C5F19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504B0-16D5-9CEE-9D0F-DF57755C3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5EBDC-1B6F-8F11-1C64-BD32283A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FFD0D-3EB4-F906-DC07-233969CE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4679C-9BA7-8F56-D79B-97D90AB5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6301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9C897-822D-63B8-EA59-46F20BA5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56009-AB28-6E4F-330B-9390F5639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DA170-D626-6E28-8FD3-A446B5CF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1D2E-BD5E-70D1-1491-2088A179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F7D9B-A831-BFA0-95E5-3A8908AE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781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E566A-D92D-68CD-C963-0A3C66E27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C18F1-1C76-CC88-A82A-A6E07C8F3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9214-9F76-2518-5A19-7F3494E8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3E437-B86A-08BB-F19E-B9BC386C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AE63-3BA5-601A-7660-59747440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80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02354-0995-DEE4-D8A2-8FCF1B1B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4FA43-E660-0BE1-C6F8-A6E6C9719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B81DC-DBD2-530C-73A2-4B89AA842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12F1C-8990-4C80-8222-157403C6187A}" type="datetimeFigureOut">
              <a:rPr lang="en-ZA" smtClean="0"/>
              <a:t>2026/09/30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EEF16-F1D7-A734-4E4E-4D0B0E9EB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F2966-532E-4377-4B1E-497B3A702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6E734-8C81-49DE-A094-BFC03FD232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941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A3AEF7-C6C8-679A-641A-FB74AB61E735}"/>
              </a:ext>
            </a:extLst>
          </p:cNvPr>
          <p:cNvGrpSpPr/>
          <p:nvPr/>
        </p:nvGrpSpPr>
        <p:grpSpPr>
          <a:xfrm>
            <a:off x="414010" y="1227550"/>
            <a:ext cx="8032109" cy="3902858"/>
            <a:chOff x="510434" y="313151"/>
            <a:chExt cx="8032109" cy="3902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F66C93-2BF3-6645-FBE6-338B64BDD191}"/>
                </a:ext>
              </a:extLst>
            </p:cNvPr>
            <p:cNvGrpSpPr/>
            <p:nvPr/>
          </p:nvGrpSpPr>
          <p:grpSpPr>
            <a:xfrm>
              <a:off x="513567" y="313151"/>
              <a:ext cx="1052186" cy="1628383"/>
              <a:chOff x="513567" y="313151"/>
              <a:chExt cx="1052186" cy="1628383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1AE0781-E0E1-3C42-4022-983113B25211}"/>
                  </a:ext>
                </a:extLst>
              </p:cNvPr>
              <p:cNvSpPr/>
              <p:nvPr/>
            </p:nvSpPr>
            <p:spPr>
              <a:xfrm>
                <a:off x="513567" y="313151"/>
                <a:ext cx="1052186" cy="162838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0756C4-0A51-60D1-C636-44F26C68C326}"/>
                  </a:ext>
                </a:extLst>
              </p:cNvPr>
              <p:cNvSpPr txBox="1"/>
              <p:nvPr/>
            </p:nvSpPr>
            <p:spPr>
              <a:xfrm>
                <a:off x="513567" y="450937"/>
                <a:ext cx="105218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ZA" sz="1400" dirty="0"/>
                  <a:t>Welcome screen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19E05E29-182A-4267-D14A-4AEB8B1AC272}"/>
                  </a:ext>
                </a:extLst>
              </p:cNvPr>
              <p:cNvSpPr/>
              <p:nvPr/>
            </p:nvSpPr>
            <p:spPr>
              <a:xfrm>
                <a:off x="563671" y="1337256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Lets get stared</a:t>
                </a: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150C2B9-D8B9-B220-5C3F-79A3845BF505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1515649" y="1437464"/>
              <a:ext cx="6951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56358E7-B8C7-5653-88B7-F60834016623}"/>
                </a:ext>
              </a:extLst>
            </p:cNvPr>
            <p:cNvGrpSpPr/>
            <p:nvPr/>
          </p:nvGrpSpPr>
          <p:grpSpPr>
            <a:xfrm>
              <a:off x="2210843" y="313151"/>
              <a:ext cx="1052186" cy="1628383"/>
              <a:chOff x="2210843" y="313151"/>
              <a:chExt cx="1052186" cy="162838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6C59BB4-8639-EA27-A222-8287E636388B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0C02DAC0-1FEE-BFDD-2F11-9941D7171331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CFC75D5-8A8E-1A96-A23A-4C7FDF208233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400" dirty="0"/>
                    <a:t>Pantry</a:t>
                  </a:r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52947F2-C721-431C-2F5A-5D53B55CF422}"/>
                  </a:ext>
                </a:extLst>
              </p:cNvPr>
              <p:cNvSpPr/>
              <p:nvPr/>
            </p:nvSpPr>
            <p:spPr>
              <a:xfrm>
                <a:off x="2311051" y="1681360"/>
                <a:ext cx="169102" cy="20041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0F2D3A8-20BA-F4E8-342B-D8C90D21FCAF}"/>
                  </a:ext>
                </a:extLst>
              </p:cNvPr>
              <p:cNvSpPr/>
              <p:nvPr/>
            </p:nvSpPr>
            <p:spPr>
              <a:xfrm>
                <a:off x="2652385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82D84DA-53DC-4E61-5DB8-13F5E7F4DED0}"/>
                  </a:ext>
                </a:extLst>
              </p:cNvPr>
              <p:cNvSpPr/>
              <p:nvPr/>
            </p:nvSpPr>
            <p:spPr>
              <a:xfrm>
                <a:off x="2982237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3A700E1-1335-D80B-55A4-A43A02A2CA2A}"/>
                  </a:ext>
                </a:extLst>
              </p:cNvPr>
              <p:cNvSpPr/>
              <p:nvPr/>
            </p:nvSpPr>
            <p:spPr>
              <a:xfrm>
                <a:off x="2260947" y="1459962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Add ingredient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9B79CF4-B41A-6CC4-1F79-A6FEAA8BC84E}"/>
                  </a:ext>
                </a:extLst>
              </p:cNvPr>
              <p:cNvSpPr/>
              <p:nvPr/>
            </p:nvSpPr>
            <p:spPr>
              <a:xfrm>
                <a:off x="2260947" y="758714"/>
                <a:ext cx="951978" cy="68026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Ingredient list</a:t>
                </a:r>
              </a:p>
              <a:p>
                <a:pPr algn="ctr"/>
                <a:endParaRPr lang="en-ZA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2A196C9-6D01-7999-0EEF-F0C0F3BAF0CE}"/>
                </a:ext>
              </a:extLst>
            </p:cNvPr>
            <p:cNvGrpSpPr/>
            <p:nvPr/>
          </p:nvGrpSpPr>
          <p:grpSpPr>
            <a:xfrm>
              <a:off x="3997264" y="313151"/>
              <a:ext cx="1052186" cy="1628383"/>
              <a:chOff x="2210843" y="313151"/>
              <a:chExt cx="1052186" cy="162838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D59A4CCA-D63F-4602-8BF0-B2956C251797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5CBC464C-1D66-2F2E-BA6A-D2BDFB9E4571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8E4FC59-551F-2B13-DD8A-4820E07300A8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200" dirty="0"/>
                    <a:t>Add/Edit ingredient</a:t>
                  </a:r>
                </a:p>
              </p:txBody>
            </p:sp>
          </p:grp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061F3EF-E52E-4916-1D68-22D8412DC678}"/>
                  </a:ext>
                </a:extLst>
              </p:cNvPr>
              <p:cNvSpPr/>
              <p:nvPr/>
            </p:nvSpPr>
            <p:spPr>
              <a:xfrm>
                <a:off x="2253638" y="1681360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Save ingredient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293C05BE-84E7-DE72-0C42-F1A15532F34B}"/>
                  </a:ext>
                </a:extLst>
              </p:cNvPr>
              <p:cNvSpPr/>
              <p:nvPr/>
            </p:nvSpPr>
            <p:spPr>
              <a:xfrm>
                <a:off x="2260947" y="839529"/>
                <a:ext cx="951978" cy="805139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Ingredient form</a:t>
                </a: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3B86710-7DFC-47E8-1589-78E860452079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 flipV="1">
              <a:off x="5066363" y="1139254"/>
              <a:ext cx="717322" cy="6423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569EE73-60DC-C00B-C616-24721CCDFC55}"/>
                </a:ext>
              </a:extLst>
            </p:cNvPr>
            <p:cNvCxnSpPr>
              <a:cxnSpLocks/>
              <a:stCxn id="198" idx="3"/>
            </p:cNvCxnSpPr>
            <p:nvPr/>
          </p:nvCxnSpPr>
          <p:spPr>
            <a:xfrm flipV="1">
              <a:off x="3291001" y="1261883"/>
              <a:ext cx="724737" cy="116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471CCC4-ED82-D3DB-A63E-121D3624A8D3}"/>
                </a:ext>
              </a:extLst>
            </p:cNvPr>
            <p:cNvGrpSpPr/>
            <p:nvPr/>
          </p:nvGrpSpPr>
          <p:grpSpPr>
            <a:xfrm>
              <a:off x="5783685" y="325062"/>
              <a:ext cx="1052186" cy="1628383"/>
              <a:chOff x="2210843" y="313151"/>
              <a:chExt cx="1052186" cy="1628383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0346FE6D-E110-CA30-B350-CE95B1ECBD6A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CA608AA0-A35D-EDAA-E4B5-ED6E0DF06A43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F27581F-7570-626C-B9C0-044E58DF9B8A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400" dirty="0"/>
                    <a:t>Pantry</a:t>
                  </a:r>
                </a:p>
              </p:txBody>
            </p:sp>
          </p:grp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53317AD-A9C7-11E3-C674-C0AB6CDFEB36}"/>
                  </a:ext>
                </a:extLst>
              </p:cNvPr>
              <p:cNvSpPr/>
              <p:nvPr/>
            </p:nvSpPr>
            <p:spPr>
              <a:xfrm>
                <a:off x="2311051" y="1681360"/>
                <a:ext cx="169102" cy="20041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FDA0283-87FB-B3EE-9DB5-3856A6124E01}"/>
                  </a:ext>
                </a:extLst>
              </p:cNvPr>
              <p:cNvSpPr/>
              <p:nvPr/>
            </p:nvSpPr>
            <p:spPr>
              <a:xfrm>
                <a:off x="2652385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3F9FD26-7657-5975-805E-EBFCCED6AC0D}"/>
                  </a:ext>
                </a:extLst>
              </p:cNvPr>
              <p:cNvSpPr/>
              <p:nvPr/>
            </p:nvSpPr>
            <p:spPr>
              <a:xfrm>
                <a:off x="2982237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748B949B-4DE6-6405-5289-A2386C015FAC}"/>
                  </a:ext>
                </a:extLst>
              </p:cNvPr>
              <p:cNvSpPr/>
              <p:nvPr/>
            </p:nvSpPr>
            <p:spPr>
              <a:xfrm>
                <a:off x="2260947" y="1459962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Add ingredient</a:t>
                </a: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6578C435-7DC0-63F1-4BA4-365DDDE57C24}"/>
                  </a:ext>
                </a:extLst>
              </p:cNvPr>
              <p:cNvSpPr/>
              <p:nvPr/>
            </p:nvSpPr>
            <p:spPr>
              <a:xfrm>
                <a:off x="2260947" y="758714"/>
                <a:ext cx="951978" cy="68026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Ingredient list (updated)</a:t>
                </a:r>
              </a:p>
            </p:txBody>
          </p:sp>
        </p:grp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63A0FDF-55E3-0516-25B3-6B817B6B5843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2736936" y="1941534"/>
              <a:ext cx="0" cy="6187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CDF1089-8962-E1B1-E446-D72510C6A24F}"/>
                </a:ext>
              </a:extLst>
            </p:cNvPr>
            <p:cNvGrpSpPr/>
            <p:nvPr/>
          </p:nvGrpSpPr>
          <p:grpSpPr>
            <a:xfrm>
              <a:off x="2210843" y="2587626"/>
              <a:ext cx="1052186" cy="1628383"/>
              <a:chOff x="2210843" y="313151"/>
              <a:chExt cx="1052186" cy="1628383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F708C9A5-222F-438B-EFB5-DE5E12AC1BF3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CDEC3F31-84C5-73C2-696C-4F22084388CF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7041210-783F-3CA8-54CB-ECB988B3AD7C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400" dirty="0"/>
                    <a:t>Recipes</a:t>
                  </a:r>
                </a:p>
              </p:txBody>
            </p:sp>
          </p:grp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24A1D2E-D39C-7103-4CEC-26D6B1B59377}"/>
                  </a:ext>
                </a:extLst>
              </p:cNvPr>
              <p:cNvSpPr/>
              <p:nvPr/>
            </p:nvSpPr>
            <p:spPr>
              <a:xfrm>
                <a:off x="2311051" y="1681360"/>
                <a:ext cx="169102" cy="2004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981F430-2E66-36D1-9CEE-9EE3804200F7}"/>
                  </a:ext>
                </a:extLst>
              </p:cNvPr>
              <p:cNvSpPr/>
              <p:nvPr/>
            </p:nvSpPr>
            <p:spPr>
              <a:xfrm>
                <a:off x="2652385" y="1681360"/>
                <a:ext cx="169102" cy="20041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B8ED72A-DDA5-B1C6-5CF3-F9D169226DD3}"/>
                  </a:ext>
                </a:extLst>
              </p:cNvPr>
              <p:cNvSpPr/>
              <p:nvPr/>
            </p:nvSpPr>
            <p:spPr>
              <a:xfrm>
                <a:off x="2982237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B95F8C99-1184-DD06-6EAC-4021A28A0E21}"/>
                  </a:ext>
                </a:extLst>
              </p:cNvPr>
              <p:cNvSpPr/>
              <p:nvPr/>
            </p:nvSpPr>
            <p:spPr>
              <a:xfrm>
                <a:off x="2260947" y="1459962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Add recipe</a:t>
                </a:r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AD49E27C-DA58-4EA7-5B53-AFF3503C3672}"/>
                  </a:ext>
                </a:extLst>
              </p:cNvPr>
              <p:cNvSpPr/>
              <p:nvPr/>
            </p:nvSpPr>
            <p:spPr>
              <a:xfrm>
                <a:off x="2260947" y="931794"/>
                <a:ext cx="951978" cy="507185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Recipe list</a:t>
                </a:r>
              </a:p>
              <a:p>
                <a:pPr algn="ctr"/>
                <a:endParaRPr lang="en-ZA" sz="800" dirty="0">
                  <a:solidFill>
                    <a:schemeClr val="tx1"/>
                  </a:solidFill>
                </a:endParaRPr>
              </a:p>
              <a:p>
                <a:pPr algn="ctr"/>
                <a:endParaRPr lang="en-ZA" sz="8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FEE3039-3DF0-E6A0-B8DD-B24E808479BF}"/>
                </a:ext>
              </a:extLst>
            </p:cNvPr>
            <p:cNvCxnSpPr>
              <a:cxnSpLocks/>
              <a:endCxn id="110" idx="1"/>
            </p:cNvCxnSpPr>
            <p:nvPr/>
          </p:nvCxnSpPr>
          <p:spPr>
            <a:xfrm flipV="1">
              <a:off x="3224834" y="3399118"/>
              <a:ext cx="839447" cy="352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75EB012-C7FD-8233-967A-6B2BFD926E2A}"/>
                </a:ext>
              </a:extLst>
            </p:cNvPr>
            <p:cNvGrpSpPr/>
            <p:nvPr/>
          </p:nvGrpSpPr>
          <p:grpSpPr>
            <a:xfrm>
              <a:off x="7490357" y="325062"/>
              <a:ext cx="1052186" cy="1628383"/>
              <a:chOff x="2210843" y="313151"/>
              <a:chExt cx="1052186" cy="1628383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31824E38-77AF-8764-BEC6-412AA2806743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D1C02390-6FDE-1E2C-25FB-4722320AE6F8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2CB38355-19D8-CCD6-91F8-17F1450FA9BD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400" dirty="0"/>
                    <a:t>Settings</a:t>
                  </a:r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1F0F933-D29D-547D-3ACE-09BB69C7D368}"/>
                  </a:ext>
                </a:extLst>
              </p:cNvPr>
              <p:cNvSpPr/>
              <p:nvPr/>
            </p:nvSpPr>
            <p:spPr>
              <a:xfrm>
                <a:off x="2311051" y="1681360"/>
                <a:ext cx="169102" cy="2004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9C7D4FC-B234-EAC2-29DA-80A4E42E8F17}"/>
                  </a:ext>
                </a:extLst>
              </p:cNvPr>
              <p:cNvSpPr/>
              <p:nvPr/>
            </p:nvSpPr>
            <p:spPr>
              <a:xfrm>
                <a:off x="2652385" y="1681360"/>
                <a:ext cx="169102" cy="2004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091DF50-3095-D9E7-E57A-5E768E6D8DDB}"/>
                  </a:ext>
                </a:extLst>
              </p:cNvPr>
              <p:cNvSpPr/>
              <p:nvPr/>
            </p:nvSpPr>
            <p:spPr>
              <a:xfrm>
                <a:off x="2982237" y="1681360"/>
                <a:ext cx="169102" cy="20041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1B133DA4-C4F3-CC7A-5751-DF4F4D2BBD44}"/>
                  </a:ext>
                </a:extLst>
              </p:cNvPr>
              <p:cNvSpPr/>
              <p:nvPr/>
            </p:nvSpPr>
            <p:spPr>
              <a:xfrm>
                <a:off x="2260947" y="758714"/>
                <a:ext cx="951978" cy="68026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Info page</a:t>
                </a:r>
              </a:p>
            </p:txBody>
          </p:sp>
        </p:grp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15D8A607-285D-599E-BE03-0306CED6DCC6}"/>
                </a:ext>
              </a:extLst>
            </p:cNvPr>
            <p:cNvCxnSpPr>
              <a:cxnSpLocks/>
            </p:cNvCxnSpPr>
            <p:nvPr/>
          </p:nvCxnSpPr>
          <p:spPr>
            <a:xfrm>
              <a:off x="3278063" y="3371457"/>
              <a:ext cx="75427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AB2A2701-A915-D587-9A08-10A7C882E719}"/>
                </a:ext>
              </a:extLst>
            </p:cNvPr>
            <p:cNvGrpSpPr/>
            <p:nvPr/>
          </p:nvGrpSpPr>
          <p:grpSpPr>
            <a:xfrm>
              <a:off x="4064281" y="2584926"/>
              <a:ext cx="1052186" cy="1628383"/>
              <a:chOff x="2210843" y="313151"/>
              <a:chExt cx="1052186" cy="1628383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0D283107-8FAE-082D-A0DB-99C2105EBD50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D8D23485-D9D5-3D16-3DB6-B883FB48E67F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D508DEDA-88AA-8617-510F-246AFE54F13F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200" dirty="0"/>
                    <a:t>Recipes</a:t>
                  </a:r>
                </a:p>
              </p:txBody>
            </p:sp>
          </p:grp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6B9ECE9B-FFB6-9062-F8C0-F08D268571D6}"/>
                  </a:ext>
                </a:extLst>
              </p:cNvPr>
              <p:cNvSpPr/>
              <p:nvPr/>
            </p:nvSpPr>
            <p:spPr>
              <a:xfrm>
                <a:off x="2260947" y="1681361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Save recipe</a:t>
                </a:r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E6003213-5849-E8FB-D40C-BFB2CDABD5EE}"/>
                  </a:ext>
                </a:extLst>
              </p:cNvPr>
              <p:cNvSpPr/>
              <p:nvPr/>
            </p:nvSpPr>
            <p:spPr>
              <a:xfrm>
                <a:off x="2260947" y="816389"/>
                <a:ext cx="951978" cy="843989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Recipe form</a:t>
                </a:r>
              </a:p>
            </p:txBody>
          </p:sp>
        </p:grp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F32E7C4-3201-3D34-0624-B5C6FC597EC5}"/>
                </a:ext>
              </a:extLst>
            </p:cNvPr>
            <p:cNvSpPr/>
            <p:nvPr/>
          </p:nvSpPr>
          <p:spPr>
            <a:xfrm>
              <a:off x="3328167" y="3127372"/>
              <a:ext cx="704167" cy="225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>
                  <a:solidFill>
                    <a:schemeClr val="tx1"/>
                  </a:solidFill>
                </a:rPr>
                <a:t>Edit/ View</a:t>
              </a: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85281B0F-53DD-A882-7653-054AAEBEB8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4181" y="1781568"/>
              <a:ext cx="766176" cy="119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043479E-22AF-A91C-7061-B565BAE49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910" y="3383641"/>
              <a:ext cx="688297" cy="654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9693FD4-89A6-3F19-91C7-AA7746938792}"/>
                </a:ext>
              </a:extLst>
            </p:cNvPr>
            <p:cNvSpPr/>
            <p:nvPr/>
          </p:nvSpPr>
          <p:spPr>
            <a:xfrm>
              <a:off x="5116467" y="3206269"/>
              <a:ext cx="704167" cy="3889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>
                  <a:solidFill>
                    <a:schemeClr val="tx1"/>
                  </a:solidFill>
                </a:rPr>
                <a:t>Back to recipes</a:t>
              </a: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104058C8-0AEC-5186-C763-A3881F885D79}"/>
                </a:ext>
              </a:extLst>
            </p:cNvPr>
            <p:cNvSpPr/>
            <p:nvPr/>
          </p:nvSpPr>
          <p:spPr>
            <a:xfrm>
              <a:off x="2250512" y="3043595"/>
              <a:ext cx="643316" cy="10064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700" dirty="0">
                  <a:solidFill>
                    <a:schemeClr val="tx1"/>
                  </a:solidFill>
                </a:rPr>
                <a:t>Suggested</a:t>
              </a:r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57C5F5DB-92B5-7F2D-9912-B90A132976F8}"/>
                </a:ext>
              </a:extLst>
            </p:cNvPr>
            <p:cNvSpPr/>
            <p:nvPr/>
          </p:nvSpPr>
          <p:spPr>
            <a:xfrm>
              <a:off x="2918880" y="3043595"/>
              <a:ext cx="308662" cy="10064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700" dirty="0">
                  <a:solidFill>
                    <a:schemeClr val="tx1"/>
                  </a:solidFill>
                </a:rPr>
                <a:t>All</a:t>
              </a: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3217266-E173-398F-AE41-5142D39F81E3}"/>
                </a:ext>
              </a:extLst>
            </p:cNvPr>
            <p:cNvGrpSpPr/>
            <p:nvPr/>
          </p:nvGrpSpPr>
          <p:grpSpPr>
            <a:xfrm>
              <a:off x="510434" y="2584926"/>
              <a:ext cx="1052186" cy="1628383"/>
              <a:chOff x="2210843" y="313151"/>
              <a:chExt cx="1052186" cy="1628383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C5D2B5BB-2443-3187-67B6-1B4986FD6BC2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172" name="Rectangle: Rounded Corners 171">
                  <a:extLst>
                    <a:ext uri="{FF2B5EF4-FFF2-40B4-BE49-F238E27FC236}">
                      <a16:creationId xmlns:a16="http://schemas.microsoft.com/office/drawing/2014/main" id="{A6B86053-BA76-474A-8330-A47825BEF77C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34C1FBA3-981C-0A3F-74C6-FBAC3AFB0CF7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400" dirty="0"/>
                    <a:t>Recipes</a:t>
                  </a:r>
                </a:p>
              </p:txBody>
            </p:sp>
          </p:grp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9CF1BAEE-1DA6-7384-6FE6-441668D3391C}"/>
                  </a:ext>
                </a:extLst>
              </p:cNvPr>
              <p:cNvSpPr/>
              <p:nvPr/>
            </p:nvSpPr>
            <p:spPr>
              <a:xfrm>
                <a:off x="2311051" y="1681360"/>
                <a:ext cx="169102" cy="2004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EE7ED9E4-2CE5-F06D-BB6C-F497DB560CD8}"/>
                  </a:ext>
                </a:extLst>
              </p:cNvPr>
              <p:cNvSpPr/>
              <p:nvPr/>
            </p:nvSpPr>
            <p:spPr>
              <a:xfrm>
                <a:off x="2652385" y="1681360"/>
                <a:ext cx="169102" cy="20041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EF825D0C-A440-4948-B957-03EB41D5F835}"/>
                  </a:ext>
                </a:extLst>
              </p:cNvPr>
              <p:cNvSpPr/>
              <p:nvPr/>
            </p:nvSpPr>
            <p:spPr>
              <a:xfrm>
                <a:off x="2982237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B436FBCF-2530-6B7C-3F7D-300E3D4B5C79}"/>
                  </a:ext>
                </a:extLst>
              </p:cNvPr>
              <p:cNvSpPr/>
              <p:nvPr/>
            </p:nvSpPr>
            <p:spPr>
              <a:xfrm>
                <a:off x="2260947" y="1459962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Add recipe</a:t>
                </a:r>
              </a:p>
            </p:txBody>
          </p:sp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8D11A318-F7CD-3E70-00FD-1FD085CE84D4}"/>
                  </a:ext>
                </a:extLst>
              </p:cNvPr>
              <p:cNvSpPr/>
              <p:nvPr/>
            </p:nvSpPr>
            <p:spPr>
              <a:xfrm>
                <a:off x="2260947" y="715618"/>
                <a:ext cx="951978" cy="723361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Suggested Recipe list</a:t>
                </a:r>
              </a:p>
            </p:txBody>
          </p:sp>
        </p:grp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00D7E236-20F7-E365-FC4D-29F932DBE351}"/>
                </a:ext>
              </a:extLst>
            </p:cNvPr>
            <p:cNvCxnSpPr>
              <a:cxnSpLocks/>
              <a:stCxn id="156" idx="1"/>
            </p:cNvCxnSpPr>
            <p:nvPr/>
          </p:nvCxnSpPr>
          <p:spPr>
            <a:xfrm flipH="1" flipV="1">
              <a:off x="1562620" y="3088164"/>
              <a:ext cx="687892" cy="57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4F5F016-3E46-DEBD-2DDF-219C2060EE0D}"/>
                </a:ext>
              </a:extLst>
            </p:cNvPr>
            <p:cNvGrpSpPr/>
            <p:nvPr/>
          </p:nvGrpSpPr>
          <p:grpSpPr>
            <a:xfrm>
              <a:off x="2261572" y="3420167"/>
              <a:ext cx="1071599" cy="215444"/>
              <a:chOff x="7478039" y="2109613"/>
              <a:chExt cx="1071599" cy="215444"/>
            </a:xfrm>
          </p:grpSpPr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8B427766-86DC-CA4A-0FD0-49741582694A}"/>
                  </a:ext>
                </a:extLst>
              </p:cNvPr>
              <p:cNvSpPr txBox="1"/>
              <p:nvPr/>
            </p:nvSpPr>
            <p:spPr>
              <a:xfrm>
                <a:off x="7478039" y="2109613"/>
                <a:ext cx="522959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edit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885FBCD8-4F2E-D78A-365E-D2101C0A34BB}"/>
                  </a:ext>
                </a:extLst>
              </p:cNvPr>
              <p:cNvSpPr txBox="1"/>
              <p:nvPr/>
            </p:nvSpPr>
            <p:spPr>
              <a:xfrm>
                <a:off x="8000998" y="2109613"/>
                <a:ext cx="54864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sz="800" dirty="0">
                    <a:solidFill>
                      <a:schemeClr val="tx1"/>
                    </a:solidFill>
                  </a:rPr>
                  <a:t>view</a:t>
                </a:r>
                <a:endParaRPr lang="en-ZA" dirty="0"/>
              </a:p>
            </p:txBody>
          </p: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5F089530-3163-E276-C72A-8666D1EBC04D}"/>
                  </a:ext>
                </a:extLst>
              </p:cNvPr>
              <p:cNvGrpSpPr/>
              <p:nvPr/>
            </p:nvGrpSpPr>
            <p:grpSpPr>
              <a:xfrm>
                <a:off x="7555960" y="2140571"/>
                <a:ext cx="848900" cy="130189"/>
                <a:chOff x="7555960" y="2140571"/>
                <a:chExt cx="848900" cy="130189"/>
              </a:xfrm>
            </p:grpSpPr>
            <p:sp>
              <p:nvSpPr>
                <p:cNvPr id="188" name="Rectangle: Rounded Corners 187">
                  <a:extLst>
                    <a:ext uri="{FF2B5EF4-FFF2-40B4-BE49-F238E27FC236}">
                      <a16:creationId xmlns:a16="http://schemas.microsoft.com/office/drawing/2014/main" id="{E75D1837-9398-9909-9041-B1155D4CD506}"/>
                    </a:ext>
                  </a:extLst>
                </p:cNvPr>
                <p:cNvSpPr/>
                <p:nvPr/>
              </p:nvSpPr>
              <p:spPr>
                <a:xfrm>
                  <a:off x="8037742" y="2140571"/>
                  <a:ext cx="367118" cy="130189"/>
                </a:xfrm>
                <a:prstGeom prst="round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190" name="Rectangle: Rounded Corners 189">
                  <a:extLst>
                    <a:ext uri="{FF2B5EF4-FFF2-40B4-BE49-F238E27FC236}">
                      <a16:creationId xmlns:a16="http://schemas.microsoft.com/office/drawing/2014/main" id="{48B24E75-9E21-6842-A055-69EC7A58C37C}"/>
                    </a:ext>
                  </a:extLst>
                </p:cNvPr>
                <p:cNvSpPr/>
                <p:nvPr/>
              </p:nvSpPr>
              <p:spPr>
                <a:xfrm>
                  <a:off x="7555960" y="2140571"/>
                  <a:ext cx="367118" cy="130189"/>
                </a:xfrm>
                <a:prstGeom prst="round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</p:grp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A27DFF6-4BCD-DAC1-E52D-381EF0B62FBB}"/>
                </a:ext>
              </a:extLst>
            </p:cNvPr>
            <p:cNvGrpSpPr/>
            <p:nvPr/>
          </p:nvGrpSpPr>
          <p:grpSpPr>
            <a:xfrm>
              <a:off x="2219402" y="1165831"/>
              <a:ext cx="1071599" cy="215444"/>
              <a:chOff x="7478039" y="2109613"/>
              <a:chExt cx="1071599" cy="215444"/>
            </a:xfrm>
          </p:grpSpPr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52D36167-3E66-5D50-1705-1D318D12DF09}"/>
                  </a:ext>
                </a:extLst>
              </p:cNvPr>
              <p:cNvSpPr txBox="1"/>
              <p:nvPr/>
            </p:nvSpPr>
            <p:spPr>
              <a:xfrm>
                <a:off x="7478039" y="2109613"/>
                <a:ext cx="522959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edit</a:t>
                </a: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DC232B2F-E52A-2811-0B8E-BD81BEF3EC29}"/>
                  </a:ext>
                </a:extLst>
              </p:cNvPr>
              <p:cNvSpPr txBox="1"/>
              <p:nvPr/>
            </p:nvSpPr>
            <p:spPr>
              <a:xfrm>
                <a:off x="8000998" y="2109613"/>
                <a:ext cx="54864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sz="800" dirty="0">
                    <a:solidFill>
                      <a:schemeClr val="tx1"/>
                    </a:solidFill>
                  </a:rPr>
                  <a:t>delete</a:t>
                </a:r>
                <a:endParaRPr lang="en-ZA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7EF99344-1BFD-6899-ECBA-334DE56B617F}"/>
                  </a:ext>
                </a:extLst>
              </p:cNvPr>
              <p:cNvGrpSpPr/>
              <p:nvPr/>
            </p:nvGrpSpPr>
            <p:grpSpPr>
              <a:xfrm>
                <a:off x="7555960" y="2140571"/>
                <a:ext cx="848900" cy="130189"/>
                <a:chOff x="7555960" y="2140571"/>
                <a:chExt cx="848900" cy="130189"/>
              </a:xfrm>
            </p:grpSpPr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A0EFCD10-25AF-CFD6-C0FA-3621DA1F12B3}"/>
                    </a:ext>
                  </a:extLst>
                </p:cNvPr>
                <p:cNvSpPr/>
                <p:nvPr/>
              </p:nvSpPr>
              <p:spPr>
                <a:xfrm>
                  <a:off x="8037742" y="2140571"/>
                  <a:ext cx="367118" cy="130189"/>
                </a:xfrm>
                <a:prstGeom prst="round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201" name="Rectangle: Rounded Corners 200">
                  <a:extLst>
                    <a:ext uri="{FF2B5EF4-FFF2-40B4-BE49-F238E27FC236}">
                      <a16:creationId xmlns:a16="http://schemas.microsoft.com/office/drawing/2014/main" id="{D7147885-3AC8-FF21-C0B2-36F373067D39}"/>
                    </a:ext>
                  </a:extLst>
                </p:cNvPr>
                <p:cNvSpPr/>
                <p:nvPr/>
              </p:nvSpPr>
              <p:spPr>
                <a:xfrm>
                  <a:off x="7555960" y="2140571"/>
                  <a:ext cx="367118" cy="130189"/>
                </a:xfrm>
                <a:prstGeom prst="round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</p:grpSp>
        </p:grp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D16932EA-6BF4-DEC2-AD74-738119F460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29" y="1299381"/>
              <a:ext cx="752709" cy="2852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5F919265-E713-BD63-59D9-AB1CD7B1C39B}"/>
                </a:ext>
              </a:extLst>
            </p:cNvPr>
            <p:cNvGrpSpPr/>
            <p:nvPr/>
          </p:nvGrpSpPr>
          <p:grpSpPr>
            <a:xfrm>
              <a:off x="5767815" y="2584926"/>
              <a:ext cx="1052186" cy="1628383"/>
              <a:chOff x="2210843" y="313151"/>
              <a:chExt cx="1052186" cy="162838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859E7BAD-EE33-CBC4-938C-DA08D6DBB463}"/>
                  </a:ext>
                </a:extLst>
              </p:cNvPr>
              <p:cNvGrpSpPr/>
              <p:nvPr/>
            </p:nvGrpSpPr>
            <p:grpSpPr>
              <a:xfrm>
                <a:off x="2210843" y="313151"/>
                <a:ext cx="1052186" cy="1628383"/>
                <a:chOff x="513567" y="313151"/>
                <a:chExt cx="1052186" cy="1628383"/>
              </a:xfrm>
            </p:grpSpPr>
            <p:sp>
              <p:nvSpPr>
                <p:cNvPr id="226" name="Rectangle: Rounded Corners 225">
                  <a:extLst>
                    <a:ext uri="{FF2B5EF4-FFF2-40B4-BE49-F238E27FC236}">
                      <a16:creationId xmlns:a16="http://schemas.microsoft.com/office/drawing/2014/main" id="{93143B88-D9EB-90E0-8AEB-7F3E293A20DB}"/>
                    </a:ext>
                  </a:extLst>
                </p:cNvPr>
                <p:cNvSpPr/>
                <p:nvPr/>
              </p:nvSpPr>
              <p:spPr>
                <a:xfrm>
                  <a:off x="513567" y="313151"/>
                  <a:ext cx="1052186" cy="162838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/>
                </a:p>
              </p:txBody>
            </p:sp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E75C570B-26F7-FD1A-F243-4663760BB5AA}"/>
                    </a:ext>
                  </a:extLst>
                </p:cNvPr>
                <p:cNvSpPr txBox="1"/>
                <p:nvPr/>
              </p:nvSpPr>
              <p:spPr>
                <a:xfrm>
                  <a:off x="513567" y="450937"/>
                  <a:ext cx="105218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1400" dirty="0"/>
                    <a:t>Recipes</a:t>
                  </a:r>
                </a:p>
              </p:txBody>
            </p:sp>
          </p:grp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04E2D37C-6DC3-F27B-DAFA-5A53E9F405BC}"/>
                  </a:ext>
                </a:extLst>
              </p:cNvPr>
              <p:cNvSpPr/>
              <p:nvPr/>
            </p:nvSpPr>
            <p:spPr>
              <a:xfrm>
                <a:off x="2311051" y="1681360"/>
                <a:ext cx="169102" cy="2004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88F9209-9805-BD82-A7FD-848ED22B8FCA}"/>
                  </a:ext>
                </a:extLst>
              </p:cNvPr>
              <p:cNvSpPr/>
              <p:nvPr/>
            </p:nvSpPr>
            <p:spPr>
              <a:xfrm>
                <a:off x="2652385" y="1681360"/>
                <a:ext cx="169102" cy="20041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</a:t>
                </a: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D9F65B03-6A43-D24C-B8F4-F750DEFFE030}"/>
                  </a:ext>
                </a:extLst>
              </p:cNvPr>
              <p:cNvSpPr/>
              <p:nvPr/>
            </p:nvSpPr>
            <p:spPr>
              <a:xfrm>
                <a:off x="2982237" y="1681360"/>
                <a:ext cx="169102" cy="20041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224" name="Rectangle: Rounded Corners 223">
                <a:extLst>
                  <a:ext uri="{FF2B5EF4-FFF2-40B4-BE49-F238E27FC236}">
                    <a16:creationId xmlns:a16="http://schemas.microsoft.com/office/drawing/2014/main" id="{021EDDF2-94C3-1A49-2004-078F69798480}"/>
                  </a:ext>
                </a:extLst>
              </p:cNvPr>
              <p:cNvSpPr/>
              <p:nvPr/>
            </p:nvSpPr>
            <p:spPr>
              <a:xfrm>
                <a:off x="2260947" y="1459962"/>
                <a:ext cx="951978" cy="20041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Add recipe</a:t>
                </a:r>
              </a:p>
            </p:txBody>
          </p:sp>
          <p:sp>
            <p:nvSpPr>
              <p:cNvPr id="225" name="Rectangle: Rounded Corners 224">
                <a:extLst>
                  <a:ext uri="{FF2B5EF4-FFF2-40B4-BE49-F238E27FC236}">
                    <a16:creationId xmlns:a16="http://schemas.microsoft.com/office/drawing/2014/main" id="{E8C9ED79-A499-D9BF-4726-8371A330C59E}"/>
                  </a:ext>
                </a:extLst>
              </p:cNvPr>
              <p:cNvSpPr/>
              <p:nvPr/>
            </p:nvSpPr>
            <p:spPr>
              <a:xfrm>
                <a:off x="2260947" y="758714"/>
                <a:ext cx="951978" cy="680266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Recipe list (updated)</a:t>
                </a:r>
              </a:p>
              <a:p>
                <a:pPr algn="ctr"/>
                <a:endParaRPr lang="en-ZA" sz="800" dirty="0">
                  <a:solidFill>
                    <a:schemeClr val="tx1"/>
                  </a:solidFill>
                </a:endParaRPr>
              </a:p>
              <a:p>
                <a:pPr algn="ctr"/>
                <a:endParaRPr lang="en-ZA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4A3F15C3-FBE5-8384-D739-ADE7ED505960}"/>
                </a:ext>
              </a:extLst>
            </p:cNvPr>
            <p:cNvGrpSpPr/>
            <p:nvPr/>
          </p:nvGrpSpPr>
          <p:grpSpPr>
            <a:xfrm>
              <a:off x="5818544" y="3417467"/>
              <a:ext cx="1071599" cy="215444"/>
              <a:chOff x="7478039" y="2109613"/>
              <a:chExt cx="1071599" cy="215444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0D4816EE-FB7E-159D-507E-1F32CB246190}"/>
                  </a:ext>
                </a:extLst>
              </p:cNvPr>
              <p:cNvSpPr txBox="1"/>
              <p:nvPr/>
            </p:nvSpPr>
            <p:spPr>
              <a:xfrm>
                <a:off x="7478039" y="2109613"/>
                <a:ext cx="522959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ZA" sz="800" dirty="0">
                    <a:solidFill>
                      <a:schemeClr val="tx1"/>
                    </a:solidFill>
                  </a:rPr>
                  <a:t>edit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D2423A15-E2E9-A96A-F9BF-CE89F22F2C5D}"/>
                  </a:ext>
                </a:extLst>
              </p:cNvPr>
              <p:cNvSpPr txBox="1"/>
              <p:nvPr/>
            </p:nvSpPr>
            <p:spPr>
              <a:xfrm>
                <a:off x="8000998" y="2109613"/>
                <a:ext cx="54864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sz="800" dirty="0">
                    <a:solidFill>
                      <a:schemeClr val="tx1"/>
                    </a:solidFill>
                  </a:rPr>
                  <a:t>view</a:t>
                </a:r>
                <a:endParaRPr lang="en-ZA" dirty="0"/>
              </a:p>
            </p:txBody>
          </p: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278B8F8B-4750-5152-3BF3-8D6406C34C99}"/>
                  </a:ext>
                </a:extLst>
              </p:cNvPr>
              <p:cNvGrpSpPr/>
              <p:nvPr/>
            </p:nvGrpSpPr>
            <p:grpSpPr>
              <a:xfrm>
                <a:off x="7555960" y="2140571"/>
                <a:ext cx="848900" cy="130189"/>
                <a:chOff x="7555960" y="2140571"/>
                <a:chExt cx="848900" cy="130189"/>
              </a:xfrm>
            </p:grpSpPr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314CDA48-E01A-1E03-8699-22499784988D}"/>
                    </a:ext>
                  </a:extLst>
                </p:cNvPr>
                <p:cNvSpPr/>
                <p:nvPr/>
              </p:nvSpPr>
              <p:spPr>
                <a:xfrm>
                  <a:off x="8037742" y="2140571"/>
                  <a:ext cx="367118" cy="130189"/>
                </a:xfrm>
                <a:prstGeom prst="round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017448D3-43B1-BFDB-1980-7592F79AABDF}"/>
                    </a:ext>
                  </a:extLst>
                </p:cNvPr>
                <p:cNvSpPr/>
                <p:nvPr/>
              </p:nvSpPr>
              <p:spPr>
                <a:xfrm>
                  <a:off x="7555960" y="2140571"/>
                  <a:ext cx="367118" cy="130189"/>
                </a:xfrm>
                <a:prstGeom prst="round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ZA" dirty="0"/>
                </a:p>
              </p:txBody>
            </p:sp>
          </p:grpSp>
        </p:grp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B2341B8F-2C56-6E7F-AFBF-C00DC650279D}"/>
                </a:ext>
              </a:extLst>
            </p:cNvPr>
            <p:cNvSpPr/>
            <p:nvPr/>
          </p:nvSpPr>
          <p:spPr>
            <a:xfrm>
              <a:off x="5030976" y="1087674"/>
              <a:ext cx="704167" cy="3088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>
                  <a:solidFill>
                    <a:schemeClr val="tx1"/>
                  </a:solidFill>
                </a:rPr>
                <a:t>Back to pantry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800F749-93B3-FDFD-858B-63DA0646D2E7}"/>
              </a:ext>
            </a:extLst>
          </p:cNvPr>
          <p:cNvSpPr txBox="1"/>
          <p:nvPr/>
        </p:nvSpPr>
        <p:spPr>
          <a:xfrm>
            <a:off x="414010" y="579385"/>
            <a:ext cx="588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Smart Pantry Manager – Simple System Structure</a:t>
            </a:r>
            <a:endParaRPr lang="en-ZA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087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1BC4-21BE-4AF0-43D7-B90E19666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5323A2-A2B5-01DB-57A9-F199D8624CDD}"/>
              </a:ext>
            </a:extLst>
          </p:cNvPr>
          <p:cNvSpPr/>
          <p:nvPr/>
        </p:nvSpPr>
        <p:spPr>
          <a:xfrm>
            <a:off x="523614" y="986390"/>
            <a:ext cx="2661713" cy="254058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33E35-2941-10AF-C6AD-3CB8CB0962CB}"/>
              </a:ext>
            </a:extLst>
          </p:cNvPr>
          <p:cNvSpPr txBox="1"/>
          <p:nvPr/>
        </p:nvSpPr>
        <p:spPr>
          <a:xfrm>
            <a:off x="523614" y="372722"/>
            <a:ext cx="4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800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Smart Pantry Manager - Database ERD</a:t>
            </a:r>
            <a:endParaRPr lang="en-ZA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D7630-F08B-1FFD-9C4F-575958479B33}"/>
              </a:ext>
            </a:extLst>
          </p:cNvPr>
          <p:cNvSpPr txBox="1"/>
          <p:nvPr/>
        </p:nvSpPr>
        <p:spPr>
          <a:xfrm>
            <a:off x="705046" y="1105731"/>
            <a:ext cx="25506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b="1" dirty="0" err="1">
                <a:solidFill>
                  <a:schemeClr val="accent1">
                    <a:lumMod val="75000"/>
                  </a:schemeClr>
                </a:solidFill>
              </a:rPr>
              <a:t>PantryItems</a:t>
            </a:r>
            <a:endParaRPr lang="en-ZA" sz="1400" b="1" dirty="0">
              <a:solidFill>
                <a:schemeClr val="accent1">
                  <a:lumMod val="75000"/>
                </a:schemeClr>
              </a:solidFill>
            </a:endParaRPr>
          </a:p>
          <a:p>
            <a:br>
              <a:rPr lang="en-ZA" sz="1400" dirty="0"/>
            </a:br>
            <a:r>
              <a:rPr lang="en-ZA" sz="1200" b="1" i="0" dirty="0">
                <a:solidFill>
                  <a:schemeClr val="tx1"/>
                </a:solidFill>
                <a:effectLst/>
                <a:latin typeface="+mn-lt"/>
              </a:rPr>
              <a:t>PK</a:t>
            </a:r>
            <a:r>
              <a:rPr lang="en-ZA" sz="1200" b="0" i="0" dirty="0">
                <a:solidFill>
                  <a:schemeClr val="tx1"/>
                </a:solidFill>
                <a:effectLst/>
                <a:latin typeface="+mn-lt"/>
              </a:rPr>
              <a:t> _id : INTEGER</a:t>
            </a:r>
          </a:p>
          <a:p>
            <a:br>
              <a:rPr lang="en-ZA" sz="1200" dirty="0"/>
            </a:br>
            <a:r>
              <a:rPr lang="en-ZA" sz="1200" b="0" i="0" dirty="0" err="1">
                <a:solidFill>
                  <a:schemeClr val="tx1"/>
                </a:solidFill>
                <a:effectLst/>
                <a:latin typeface="+mn-lt"/>
              </a:rPr>
              <a:t>ingredient_name</a:t>
            </a:r>
            <a:r>
              <a:rPr lang="en-ZA" sz="1200" b="0" i="0" dirty="0">
                <a:solidFill>
                  <a:schemeClr val="tx1"/>
                </a:solidFill>
                <a:effectLst/>
                <a:latin typeface="+mn-lt"/>
              </a:rPr>
              <a:t> : TEXT, NOT NULL</a:t>
            </a:r>
            <a:br>
              <a:rPr lang="en-ZA" sz="1200" dirty="0"/>
            </a:br>
            <a:r>
              <a:rPr lang="en-ZA" sz="1200" b="0" i="0" dirty="0">
                <a:solidFill>
                  <a:schemeClr val="tx1"/>
                </a:solidFill>
                <a:effectLst/>
                <a:latin typeface="+mn-lt"/>
              </a:rPr>
              <a:t>quantity : REAL, NOT NULL</a:t>
            </a:r>
            <a:br>
              <a:rPr lang="en-ZA" sz="1200" dirty="0"/>
            </a:br>
            <a:r>
              <a:rPr lang="en-ZA" sz="1200" b="0" i="0" dirty="0">
                <a:solidFill>
                  <a:schemeClr val="tx1"/>
                </a:solidFill>
                <a:effectLst/>
                <a:latin typeface="+mn-lt"/>
              </a:rPr>
              <a:t>unit : TEXT, NOT NULL</a:t>
            </a:r>
            <a:br>
              <a:rPr lang="en-ZA" sz="1200" dirty="0"/>
            </a:br>
            <a:r>
              <a:rPr lang="en-ZA" sz="1200" b="0" i="0" dirty="0" err="1">
                <a:solidFill>
                  <a:schemeClr val="tx1"/>
                </a:solidFill>
                <a:effectLst/>
                <a:latin typeface="+mn-lt"/>
              </a:rPr>
              <a:t>expiry_date</a:t>
            </a:r>
            <a:r>
              <a:rPr lang="en-ZA" sz="1200" b="0" i="0" dirty="0">
                <a:solidFill>
                  <a:schemeClr val="tx1"/>
                </a:solidFill>
                <a:effectLst/>
                <a:latin typeface="+mn-lt"/>
              </a:rPr>
              <a:t> : TEXT</a:t>
            </a:r>
            <a:br>
              <a:rPr lang="en-ZA" sz="1200" dirty="0"/>
            </a:br>
            <a:r>
              <a:rPr lang="en-ZA" sz="1200" b="0" i="0" dirty="0">
                <a:solidFill>
                  <a:schemeClr val="tx1"/>
                </a:solidFill>
                <a:effectLst/>
                <a:latin typeface="+mn-lt"/>
              </a:rPr>
              <a:t>category : TEXT</a:t>
            </a:r>
            <a:endParaRPr lang="en-ZA" sz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07568C-7D9F-E0F4-278D-E9281B2B5B3D}"/>
              </a:ext>
            </a:extLst>
          </p:cNvPr>
          <p:cNvSpPr/>
          <p:nvPr/>
        </p:nvSpPr>
        <p:spPr>
          <a:xfrm>
            <a:off x="3676015" y="986390"/>
            <a:ext cx="2464084" cy="330425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50C26-E5EA-E518-6A3B-6751F6900970}"/>
              </a:ext>
            </a:extLst>
          </p:cNvPr>
          <p:cNvSpPr txBox="1"/>
          <p:nvPr/>
        </p:nvSpPr>
        <p:spPr>
          <a:xfrm>
            <a:off x="3857447" y="1105731"/>
            <a:ext cx="24640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b="1" dirty="0">
                <a:solidFill>
                  <a:schemeClr val="accent1">
                    <a:lumMod val="75000"/>
                  </a:schemeClr>
                </a:solidFill>
              </a:rPr>
              <a:t>Recipes</a:t>
            </a:r>
          </a:p>
          <a:p>
            <a:br>
              <a:rPr lang="en-ZA" sz="1400" dirty="0"/>
            </a:br>
            <a:r>
              <a:rPr lang="en-ZA" sz="1200" b="1" dirty="0"/>
              <a:t>PK</a:t>
            </a:r>
            <a:r>
              <a:rPr lang="en-ZA" sz="1200" dirty="0"/>
              <a:t> _id : INTEGER</a:t>
            </a:r>
          </a:p>
          <a:p>
            <a:br>
              <a:rPr lang="en-ZA" sz="1200" dirty="0"/>
            </a:br>
            <a:r>
              <a:rPr lang="en-ZA" sz="1200" dirty="0" err="1"/>
              <a:t>recipe_name</a:t>
            </a:r>
            <a:r>
              <a:rPr lang="en-ZA" sz="1200" dirty="0"/>
              <a:t> : TEXT, NOT NULL</a:t>
            </a:r>
            <a:br>
              <a:rPr lang="en-ZA" sz="1200" dirty="0"/>
            </a:br>
            <a:r>
              <a:rPr lang="en-ZA" sz="1200" dirty="0"/>
              <a:t>ingredient1 : TEXT</a:t>
            </a:r>
            <a:br>
              <a:rPr lang="en-ZA" sz="1200" dirty="0"/>
            </a:br>
            <a:r>
              <a:rPr lang="en-ZA" sz="1200" dirty="0"/>
              <a:t>ingredient2 : TEXT</a:t>
            </a:r>
            <a:br>
              <a:rPr lang="en-ZA" sz="1200" dirty="0"/>
            </a:br>
            <a:r>
              <a:rPr lang="en-ZA" sz="1200" dirty="0"/>
              <a:t>ingredient3 : TEXT</a:t>
            </a:r>
            <a:br>
              <a:rPr lang="en-ZA" sz="1200" dirty="0"/>
            </a:br>
            <a:r>
              <a:rPr lang="en-ZA" sz="1200" dirty="0"/>
              <a:t>ingredient4 : TEXT</a:t>
            </a:r>
            <a:br>
              <a:rPr lang="en-ZA" sz="1200" dirty="0"/>
            </a:br>
            <a:r>
              <a:rPr lang="en-ZA" sz="1200" dirty="0"/>
              <a:t>ingredient5 : TEXT</a:t>
            </a:r>
            <a:br>
              <a:rPr lang="en-ZA" sz="1200" dirty="0"/>
            </a:br>
            <a:r>
              <a:rPr lang="en-ZA" sz="1200" dirty="0"/>
              <a:t>ingredient6 : TEXT</a:t>
            </a:r>
            <a:br>
              <a:rPr lang="en-ZA" sz="1200" dirty="0"/>
            </a:br>
            <a:r>
              <a:rPr lang="en-ZA" sz="1200" dirty="0"/>
              <a:t>ingredient7 : TEXT</a:t>
            </a:r>
            <a:br>
              <a:rPr lang="en-ZA" sz="1200" dirty="0"/>
            </a:br>
            <a:r>
              <a:rPr lang="en-ZA" sz="1200" dirty="0"/>
              <a:t>ingredient8 : TEXT</a:t>
            </a:r>
            <a:br>
              <a:rPr lang="en-ZA" sz="1200" dirty="0"/>
            </a:br>
            <a:r>
              <a:rPr lang="en-ZA" sz="1200" dirty="0"/>
              <a:t>ingredient9 : TEXT</a:t>
            </a:r>
            <a:br>
              <a:rPr lang="en-ZA" sz="1200" dirty="0"/>
            </a:br>
            <a:r>
              <a:rPr lang="en-ZA" sz="1200" dirty="0"/>
              <a:t>ingredient10 : TEXT</a:t>
            </a:r>
            <a:br>
              <a:rPr lang="en-ZA" sz="1200" dirty="0"/>
            </a:br>
            <a:r>
              <a:rPr lang="en-ZA" sz="1200" dirty="0"/>
              <a:t>instructions :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A5DC4-811C-DAA1-5E7D-0BAFC308CED5}"/>
              </a:ext>
            </a:extLst>
          </p:cNvPr>
          <p:cNvSpPr txBox="1"/>
          <p:nvPr/>
        </p:nvSpPr>
        <p:spPr>
          <a:xfrm>
            <a:off x="6630787" y="986390"/>
            <a:ext cx="295477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b="1" i="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</a:rPr>
              <a:t>Relationships:</a:t>
            </a:r>
          </a:p>
          <a:p>
            <a:endParaRPr lang="en-ZA" sz="1200" dirty="0"/>
          </a:p>
          <a:p>
            <a:pPr marL="171450" indent="-171450">
              <a:buFontTx/>
              <a:buChar char="-"/>
            </a:pPr>
            <a:r>
              <a:rPr lang="en-ZA" sz="1200" i="0" dirty="0">
                <a:effectLst/>
                <a:latin typeface="+mn-lt"/>
              </a:rPr>
              <a:t>No foreign-key relationships</a:t>
            </a:r>
          </a:p>
          <a:p>
            <a:pPr marL="171450" indent="-171450">
              <a:buFontTx/>
              <a:buChar char="-"/>
            </a:pPr>
            <a:r>
              <a:rPr lang="en-ZA" sz="1200" dirty="0"/>
              <a:t>Using logic in Java, recipes are matched by comparing ingredient items in the </a:t>
            </a:r>
            <a:r>
              <a:rPr lang="en-ZA" sz="1200" dirty="0" err="1"/>
              <a:t>PantryItems</a:t>
            </a:r>
            <a:r>
              <a:rPr lang="en-ZA" sz="1200" dirty="0"/>
              <a:t> table with those stored in the Recipes tables, where the content is uploaded by the user</a:t>
            </a:r>
            <a:r>
              <a:rPr lang="en-ZA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ZA" sz="1200" dirty="0">
                <a:solidFill>
                  <a:schemeClr val="accent1">
                    <a:lumMod val="75000"/>
                  </a:schemeClr>
                </a:solidFill>
              </a:rPr>
              <a:t>The search </a:t>
            </a:r>
            <a:r>
              <a:rPr lang="en-ZA" sz="1200">
                <a:solidFill>
                  <a:schemeClr val="accent1">
                    <a:lumMod val="75000"/>
                  </a:schemeClr>
                </a:solidFill>
              </a:rPr>
              <a:t>gets  </a:t>
            </a:r>
            <a:r>
              <a:rPr lang="en-ZA" sz="1200" dirty="0">
                <a:solidFill>
                  <a:schemeClr val="accent1">
                    <a:lumMod val="75000"/>
                  </a:schemeClr>
                </a:solidFill>
              </a:rPr>
              <a:t>from the ingredient</a:t>
            </a:r>
            <a:r>
              <a:rPr lang="en-ZA" sz="1200">
                <a:solidFill>
                  <a:schemeClr val="accent1">
                    <a:lumMod val="75000"/>
                  </a:schemeClr>
                </a:solidFill>
              </a:rPr>
              <a:t>, quantity,  entered </a:t>
            </a:r>
            <a:endParaRPr lang="en-ZA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37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249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Karsten</dc:creator>
  <cp:lastModifiedBy>Carmen Karsten</cp:lastModifiedBy>
  <cp:revision>3</cp:revision>
  <dcterms:created xsi:type="dcterms:W3CDTF">2026-09-30T16:18:33Z</dcterms:created>
  <dcterms:modified xsi:type="dcterms:W3CDTF">2026-09-30T18:35:19Z</dcterms:modified>
</cp:coreProperties>
</file>